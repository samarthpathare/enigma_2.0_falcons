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4" r:id="rId9"/>
    <p:sldId id="267" r:id="rId10"/>
  </p:sldIdLst>
  <p:sldSz cx="18288000" cy="10287000"/>
  <p:notesSz cx="6858000" cy="9144000"/>
  <p:embeddedFontLst>
    <p:embeddedFont>
      <p:font typeface="Algerian" panose="04020705040A02060702" pitchFamily="82" charset="0"/>
      <p:regular r:id="rId12"/>
    </p:embeddedFont>
    <p:embeddedFont>
      <p:font typeface="Arimo" panose="020B0604020202020204" charset="0"/>
      <p:regular r:id="rId13"/>
    </p:embeddedFont>
    <p:embeddedFont>
      <p:font typeface="The Seasons" panose="020B0604020202020204" charset="0"/>
      <p:regular r:id="rId14"/>
    </p:embeddedFont>
    <p:embeddedFont>
      <p:font typeface="The Seasons Italic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share.google/ppuSChaIUIjSFcxWQ"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www.linkedin.com/in/samarth-pathare-b922042b2/"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5715000"/>
          </a:xfrm>
          <a:custGeom>
            <a:avLst/>
            <a:gdLst/>
            <a:ahLst/>
            <a:cxnLst/>
            <a:rect l="l" t="t" r="r" b="b"/>
            <a:pathLst>
              <a:path w="18288000" h="5715000">
                <a:moveTo>
                  <a:pt x="0" y="0"/>
                </a:moveTo>
                <a:lnTo>
                  <a:pt x="18288000" y="0"/>
                </a:lnTo>
                <a:lnTo>
                  <a:pt x="18288000" y="5715000"/>
                </a:lnTo>
                <a:lnTo>
                  <a:pt x="0" y="5715000"/>
                </a:lnTo>
                <a:lnTo>
                  <a:pt x="0" y="0"/>
                </a:lnTo>
                <a:close/>
              </a:path>
            </a:pathLst>
          </a:custGeom>
          <a:blipFill>
            <a:blip r:embed="rId3"/>
            <a:stretch>
              <a:fillRect/>
            </a:stretch>
          </a:blipFill>
        </p:spPr>
      </p:sp>
      <p:sp>
        <p:nvSpPr>
          <p:cNvPr id="3" name="TextBox 3"/>
          <p:cNvSpPr txBox="1"/>
          <p:nvPr/>
        </p:nvSpPr>
        <p:spPr>
          <a:xfrm>
            <a:off x="680775" y="6777796"/>
            <a:ext cx="16858350" cy="397545"/>
          </a:xfrm>
          <a:prstGeom prst="rect">
            <a:avLst/>
          </a:prstGeom>
        </p:spPr>
        <p:txBody>
          <a:bodyPr lIns="0" tIns="0" rIns="0" bIns="0" rtlCol="0" anchor="t">
            <a:spAutoFit/>
          </a:bodyPr>
          <a:lstStyle/>
          <a:p>
            <a:pPr algn="l">
              <a:lnSpc>
                <a:spcPts val="3072"/>
              </a:lnSpc>
            </a:pPr>
            <a:r>
              <a:rPr lang="en-US" sz="3200" dirty="0">
                <a:solidFill>
                  <a:srgbClr val="202729"/>
                </a:solidFill>
                <a:latin typeface="Arial" panose="020B0604020202020204" pitchFamily="34" charset="0"/>
                <a:ea typeface="Arimo"/>
                <a:cs typeface="Arial" panose="020B0604020202020204" pitchFamily="34" charset="0"/>
                <a:sym typeface="Arimo"/>
              </a:rPr>
              <a:t>Team Name : Falcons</a:t>
            </a:r>
          </a:p>
        </p:txBody>
      </p:sp>
      <p:sp>
        <p:nvSpPr>
          <p:cNvPr id="4" name="TextBox 4"/>
          <p:cNvSpPr txBox="1"/>
          <p:nvPr/>
        </p:nvSpPr>
        <p:spPr>
          <a:xfrm>
            <a:off x="680775" y="8832111"/>
            <a:ext cx="16858350" cy="711092"/>
          </a:xfrm>
          <a:prstGeom prst="rect">
            <a:avLst/>
          </a:prstGeom>
        </p:spPr>
        <p:txBody>
          <a:bodyPr lIns="0" tIns="0" rIns="0" bIns="0" rtlCol="0" anchor="t">
            <a:spAutoFit/>
          </a:bodyPr>
          <a:lstStyle/>
          <a:p>
            <a:pPr>
              <a:lnSpc>
                <a:spcPts val="2688"/>
              </a:lnSpc>
            </a:pPr>
            <a:r>
              <a:rPr lang="en-US" sz="3200" dirty="0">
                <a:solidFill>
                  <a:srgbClr val="202729"/>
                </a:solidFill>
                <a:latin typeface="Arial" panose="020B0604020202020204" pitchFamily="34" charset="0"/>
                <a:ea typeface="Arimo"/>
                <a:cs typeface="Arial" panose="020B0604020202020204" pitchFamily="34" charset="0"/>
                <a:sym typeface="Arimo"/>
              </a:rPr>
              <a:t>Problem Statement : </a:t>
            </a:r>
            <a:r>
              <a:rPr lang="en-US" sz="3200" dirty="0">
                <a:latin typeface="Arial" panose="020B0604020202020204" pitchFamily="34" charset="0"/>
                <a:cs typeface="Arial" panose="020B0604020202020204" pitchFamily="34" charset="0"/>
              </a:rPr>
              <a:t>Schizophrenia diagnosis is subjective and delayed because it relies heavily on </a:t>
            </a:r>
            <a:r>
              <a:rPr lang="en-US" sz="3200" dirty="0" err="1">
                <a:latin typeface="Arial" panose="020B0604020202020204" pitchFamily="34" charset="0"/>
                <a:cs typeface="Arial" panose="020B0604020202020204" pitchFamily="34" charset="0"/>
              </a:rPr>
              <a:t>behavioural</a:t>
            </a:r>
            <a:r>
              <a:rPr lang="en-US" sz="3200" dirty="0">
                <a:latin typeface="Arial" panose="020B0604020202020204" pitchFamily="34" charset="0"/>
                <a:cs typeface="Arial" panose="020B0604020202020204" pitchFamily="34" charset="0"/>
              </a:rPr>
              <a:t> observation instead of measurable biomarkers. </a:t>
            </a:r>
            <a:endParaRPr lang="en-US" sz="3200" dirty="0">
              <a:solidFill>
                <a:srgbClr val="202729"/>
              </a:solidFill>
              <a:latin typeface="Arial" panose="020B0604020202020204" pitchFamily="34" charset="0"/>
              <a:ea typeface="Arimo"/>
              <a:cs typeface="Arial" panose="020B0604020202020204" pitchFamily="34" charset="0"/>
              <a:sym typeface="Arimo"/>
            </a:endParaRPr>
          </a:p>
        </p:txBody>
      </p:sp>
      <p:sp>
        <p:nvSpPr>
          <p:cNvPr id="5" name="TextBox 5"/>
          <p:cNvSpPr txBox="1"/>
          <p:nvPr/>
        </p:nvSpPr>
        <p:spPr>
          <a:xfrm>
            <a:off x="711751" y="7727316"/>
            <a:ext cx="16858350" cy="397545"/>
          </a:xfrm>
          <a:prstGeom prst="rect">
            <a:avLst/>
          </a:prstGeom>
        </p:spPr>
        <p:txBody>
          <a:bodyPr lIns="0" tIns="0" rIns="0" bIns="0" rtlCol="0" anchor="t">
            <a:spAutoFit/>
          </a:bodyPr>
          <a:lstStyle/>
          <a:p>
            <a:pPr algn="l">
              <a:lnSpc>
                <a:spcPts val="3072"/>
              </a:lnSpc>
            </a:pPr>
            <a:r>
              <a:rPr lang="en-US" sz="3200" dirty="0">
                <a:solidFill>
                  <a:srgbClr val="202729"/>
                </a:solidFill>
                <a:latin typeface="Arial" panose="020B0604020202020204" pitchFamily="34" charset="0"/>
                <a:ea typeface="Arimo"/>
                <a:cs typeface="Arial" panose="020B0604020202020204" pitchFamily="34" charset="0"/>
                <a:sym typeface="Arimo"/>
              </a:rPr>
              <a:t>Team Leader Name : Soham Awaze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13325" y="114300"/>
            <a:ext cx="4623150" cy="834675"/>
          </a:xfrm>
          <a:prstGeom prst="rect">
            <a:avLst/>
          </a:prstGeom>
        </p:spPr>
        <p:txBody>
          <a:bodyPr lIns="0" tIns="0" rIns="0" bIns="0" rtlCol="0" anchor="t">
            <a:spAutoFit/>
          </a:bodyPr>
          <a:lstStyle/>
          <a:p>
            <a:pPr algn="ctr">
              <a:lnSpc>
                <a:spcPts val="5658"/>
              </a:lnSpc>
            </a:pPr>
            <a:r>
              <a:rPr lang="en-US" sz="4100" dirty="0">
                <a:solidFill>
                  <a:srgbClr val="000000"/>
                </a:solidFill>
                <a:latin typeface="Arimo"/>
                <a:ea typeface="Arimo"/>
                <a:cs typeface="Arimo"/>
                <a:sym typeface="Arimo"/>
              </a:rPr>
              <a:t>Team Members</a:t>
            </a:r>
          </a:p>
        </p:txBody>
      </p:sp>
      <p:graphicFrame>
        <p:nvGraphicFramePr>
          <p:cNvPr id="3" name="Table 3"/>
          <p:cNvGraphicFramePr>
            <a:graphicFrameLocks noGrp="1"/>
          </p:cNvGraphicFramePr>
          <p:nvPr>
            <p:extLst>
              <p:ext uri="{D42A27DB-BD31-4B8C-83A1-F6EECF244321}">
                <p14:modId xmlns:p14="http://schemas.microsoft.com/office/powerpoint/2010/main" val="3506211124"/>
              </p:ext>
            </p:extLst>
          </p:nvPr>
        </p:nvGraphicFramePr>
        <p:xfrm>
          <a:off x="1066800" y="1104900"/>
          <a:ext cx="14935200" cy="8904977"/>
        </p:xfrm>
        <a:graphic>
          <a:graphicData uri="http://schemas.openxmlformats.org/drawingml/2006/table">
            <a:tbl>
              <a:tblPr/>
              <a:tblGrid>
                <a:gridCol w="7133230">
                  <a:extLst>
                    <a:ext uri="{9D8B030D-6E8A-4147-A177-3AD203B41FA5}">
                      <a16:colId xmlns:a16="http://schemas.microsoft.com/office/drawing/2014/main" val="20000"/>
                    </a:ext>
                  </a:extLst>
                </a:gridCol>
                <a:gridCol w="7801970">
                  <a:extLst>
                    <a:ext uri="{9D8B030D-6E8A-4147-A177-3AD203B41FA5}">
                      <a16:colId xmlns:a16="http://schemas.microsoft.com/office/drawing/2014/main" val="20001"/>
                    </a:ext>
                  </a:extLst>
                </a:gridCol>
              </a:tblGrid>
              <a:tr h="2140553">
                <a:tc>
                  <a:txBody>
                    <a:bodyPr/>
                    <a:lstStyle/>
                    <a:p>
                      <a:pPr algn="l">
                        <a:lnSpc>
                          <a:spcPts val="3359"/>
                        </a:lnSpc>
                        <a:defRPr/>
                      </a:pPr>
                      <a:r>
                        <a:rPr lang="en-US" sz="2000" dirty="0">
                          <a:solidFill>
                            <a:srgbClr val="000000"/>
                          </a:solidFill>
                          <a:latin typeface="Arial"/>
                          <a:ea typeface="Arial"/>
                          <a:cs typeface="Arial"/>
                          <a:sym typeface="Arial"/>
                        </a:rPr>
                        <a:t>Team Leader: </a:t>
                      </a:r>
                      <a:endParaRPr lang="en-US" sz="1000" dirty="0"/>
                    </a:p>
                    <a:p>
                      <a:pPr algn="l">
                        <a:lnSpc>
                          <a:spcPts val="3359"/>
                        </a:lnSpc>
                      </a:pPr>
                      <a:r>
                        <a:rPr lang="en-US" sz="2000" dirty="0">
                          <a:solidFill>
                            <a:srgbClr val="000000"/>
                          </a:solidFill>
                          <a:latin typeface="Arial"/>
                          <a:ea typeface="Arial"/>
                          <a:cs typeface="Arial"/>
                          <a:sym typeface="Arial"/>
                        </a:rPr>
                        <a:t>Name: Soham Awaze</a:t>
                      </a:r>
                    </a:p>
                    <a:p>
                      <a:pPr algn="l">
                        <a:lnSpc>
                          <a:spcPts val="3359"/>
                        </a:lnSpc>
                      </a:pPr>
                      <a:r>
                        <a:rPr lang="en-US" sz="2000" dirty="0">
                          <a:solidFill>
                            <a:srgbClr val="000000"/>
                          </a:solidFill>
                          <a:latin typeface="Arial"/>
                          <a:ea typeface="Arial"/>
                          <a:cs typeface="Arial"/>
                          <a:sym typeface="Arial"/>
                        </a:rPr>
                        <a:t>College: JD college of Engineering and Management</a:t>
                      </a:r>
                    </a:p>
                    <a:p>
                      <a:pPr algn="l">
                        <a:lnSpc>
                          <a:spcPts val="3359"/>
                        </a:lnSpc>
                      </a:pPr>
                      <a:r>
                        <a:rPr lang="en-US" sz="2000" dirty="0">
                          <a:solidFill>
                            <a:srgbClr val="000000"/>
                          </a:solidFill>
                          <a:latin typeface="Arial"/>
                          <a:ea typeface="Arial"/>
                          <a:cs typeface="Arial"/>
                          <a:sym typeface="Arial"/>
                        </a:rPr>
                        <a:t>LinkedIn:</a:t>
                      </a:r>
                      <a:r>
                        <a:rPr lang="en-IN" sz="2000" b="0" dirty="0">
                          <a:solidFill>
                            <a:schemeClr val="tx1"/>
                          </a:solidFill>
                          <a:hlinkClick r:id="rId3" tooltip="https://share.google/ppuSChaIUIjSFcxWQ">
                            <a:extLst>
                              <a:ext uri="{A12FA001-AC4F-418D-AE19-62706E023703}">
                                <ahyp:hlinkClr xmlns:ahyp="http://schemas.microsoft.com/office/drawing/2018/hyperlinkcolor" val="tx"/>
                              </a:ext>
                            </a:extLst>
                          </a:hlinkClick>
                        </a:rPr>
                        <a:t>https://share.google/ppuSChaIUIjSFcxWQ</a:t>
                      </a:r>
                      <a:endParaRPr lang="en-US" sz="2000" b="0" dirty="0">
                        <a:solidFill>
                          <a:schemeClr val="tx1"/>
                        </a:solidFill>
                        <a:latin typeface="Arial"/>
                        <a:ea typeface="Arial"/>
                        <a:cs typeface="Arial"/>
                        <a:sym typeface="Arial"/>
                      </a:endParaRPr>
                    </a:p>
                    <a:p>
                      <a:pPr algn="l">
                        <a:lnSpc>
                          <a:spcPts val="3359"/>
                        </a:lnSpc>
                      </a:pPr>
                      <a:endParaRPr lang="en-US" sz="2000" dirty="0">
                        <a:solidFill>
                          <a:srgbClr val="000000"/>
                        </a:solidFill>
                        <a:latin typeface="Arial"/>
                        <a:ea typeface="Arial"/>
                        <a:cs typeface="Arial"/>
                        <a:sym typeface="Aria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1679"/>
                        </a:lnSpc>
                        <a:defRPr/>
                      </a:pPr>
                      <a:endParaRPr lang="en-US" sz="1000" dirty="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57819">
                <a:tc>
                  <a:txBody>
                    <a:bodyPr/>
                    <a:lstStyle/>
                    <a:p>
                      <a:pPr algn="l">
                        <a:lnSpc>
                          <a:spcPts val="3359"/>
                        </a:lnSpc>
                        <a:defRPr/>
                      </a:pPr>
                      <a:r>
                        <a:rPr lang="en-US" sz="2000" dirty="0">
                          <a:solidFill>
                            <a:srgbClr val="000000"/>
                          </a:solidFill>
                          <a:latin typeface="Arial"/>
                          <a:ea typeface="Arial"/>
                          <a:cs typeface="Arial"/>
                          <a:sym typeface="Arial"/>
                        </a:rPr>
                        <a:t>Team Member 1: </a:t>
                      </a:r>
                      <a:endParaRPr lang="en-US" sz="1000" dirty="0"/>
                    </a:p>
                    <a:p>
                      <a:pPr algn="l">
                        <a:lnSpc>
                          <a:spcPts val="3359"/>
                        </a:lnSpc>
                      </a:pPr>
                      <a:r>
                        <a:rPr lang="en-US" sz="2000" dirty="0">
                          <a:solidFill>
                            <a:srgbClr val="000000"/>
                          </a:solidFill>
                          <a:latin typeface="Arial"/>
                          <a:ea typeface="Arial"/>
                          <a:cs typeface="Arial"/>
                          <a:sym typeface="Arial"/>
                        </a:rPr>
                        <a:t>Name: Kavya </a:t>
                      </a:r>
                      <a:r>
                        <a:rPr lang="en-US" sz="2000" dirty="0" err="1">
                          <a:solidFill>
                            <a:srgbClr val="000000"/>
                          </a:solidFill>
                          <a:latin typeface="Arial"/>
                          <a:ea typeface="Arial"/>
                          <a:cs typeface="Arial"/>
                          <a:sym typeface="Arial"/>
                        </a:rPr>
                        <a:t>Balsaraf</a:t>
                      </a:r>
                      <a:endParaRPr lang="en-US" sz="2000" dirty="0">
                        <a:solidFill>
                          <a:srgbClr val="000000"/>
                        </a:solidFill>
                        <a:latin typeface="Arial"/>
                        <a:ea typeface="Arial"/>
                        <a:cs typeface="Arial"/>
                        <a:sym typeface="Arial"/>
                      </a:endParaRPr>
                    </a:p>
                    <a:p>
                      <a:pPr algn="l">
                        <a:lnSpc>
                          <a:spcPts val="3359"/>
                        </a:lnSpc>
                      </a:pPr>
                      <a:r>
                        <a:rPr lang="en-US" sz="2000" dirty="0">
                          <a:solidFill>
                            <a:srgbClr val="000000"/>
                          </a:solidFill>
                          <a:latin typeface="Arial"/>
                          <a:ea typeface="Arial"/>
                          <a:cs typeface="Arial"/>
                          <a:sym typeface="Arial"/>
                        </a:rPr>
                        <a:t>College: JD college of Engineering and Management</a:t>
                      </a:r>
                    </a:p>
                    <a:p>
                      <a:pPr algn="l">
                        <a:lnSpc>
                          <a:spcPts val="3359"/>
                        </a:lnSpc>
                      </a:pPr>
                      <a:r>
                        <a:rPr lang="en-US" sz="2000" dirty="0">
                          <a:solidFill>
                            <a:srgbClr val="000000"/>
                          </a:solidFill>
                          <a:latin typeface="Arial"/>
                          <a:ea typeface="Arial"/>
                          <a:cs typeface="Arial"/>
                          <a:sym typeface="Arial"/>
                        </a:rPr>
                        <a:t>LinkedIn: </a:t>
                      </a:r>
                      <a:r>
                        <a:rPr lang="en-US" sz="2000" u="sng" dirty="0">
                          <a:solidFill>
                            <a:schemeClr val="tx1"/>
                          </a:solidFill>
                          <a:latin typeface="Arial"/>
                          <a:ea typeface="Arial"/>
                          <a:cs typeface="Arial"/>
                          <a:sym typeface="Arial"/>
                        </a:rPr>
                        <a:t>https://www.linkedin.com/in/kavya-balsaraf-7249713aa/</a:t>
                      </a:r>
                    </a:p>
                    <a:p>
                      <a:pPr algn="l">
                        <a:lnSpc>
                          <a:spcPts val="3359"/>
                        </a:lnSpc>
                      </a:pPr>
                      <a:endParaRPr lang="en-US" sz="2000" dirty="0">
                        <a:solidFill>
                          <a:srgbClr val="000000"/>
                        </a:solidFill>
                        <a:latin typeface="Arial"/>
                        <a:ea typeface="Arial"/>
                        <a:cs typeface="Arial"/>
                        <a:sym typeface="Aria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359"/>
                        </a:lnSpc>
                        <a:defRPr/>
                      </a:pPr>
                      <a:r>
                        <a:rPr lang="en-US" sz="2000" dirty="0">
                          <a:solidFill>
                            <a:srgbClr val="000000"/>
                          </a:solidFill>
                          <a:latin typeface="Arial"/>
                          <a:ea typeface="Arial"/>
                          <a:cs typeface="Arial"/>
                          <a:sym typeface="Arial"/>
                        </a:rPr>
                        <a:t>Team Member 3: </a:t>
                      </a:r>
                      <a:endParaRPr lang="en-US" sz="1000" dirty="0"/>
                    </a:p>
                    <a:p>
                      <a:pPr algn="l">
                        <a:lnSpc>
                          <a:spcPts val="3359"/>
                        </a:lnSpc>
                      </a:pPr>
                      <a:r>
                        <a:rPr lang="en-US" sz="2000" dirty="0">
                          <a:solidFill>
                            <a:srgbClr val="000000"/>
                          </a:solidFill>
                          <a:latin typeface="Arial"/>
                          <a:ea typeface="Arial"/>
                          <a:cs typeface="Arial"/>
                          <a:sym typeface="Arial"/>
                        </a:rPr>
                        <a:t>Name: Samarth Pathare</a:t>
                      </a:r>
                    </a:p>
                    <a:p>
                      <a:pPr algn="l">
                        <a:lnSpc>
                          <a:spcPts val="3359"/>
                        </a:lnSpc>
                      </a:pPr>
                      <a:r>
                        <a:rPr lang="en-US" sz="2000" dirty="0" err="1">
                          <a:solidFill>
                            <a:srgbClr val="000000"/>
                          </a:solidFill>
                          <a:latin typeface="Arial"/>
                          <a:ea typeface="Arial"/>
                          <a:cs typeface="Arial"/>
                          <a:sym typeface="Arial"/>
                        </a:rPr>
                        <a:t>College:JD</a:t>
                      </a:r>
                      <a:r>
                        <a:rPr lang="en-US" sz="2000" dirty="0">
                          <a:solidFill>
                            <a:srgbClr val="000000"/>
                          </a:solidFill>
                          <a:latin typeface="Arial"/>
                          <a:ea typeface="Arial"/>
                          <a:cs typeface="Arial"/>
                          <a:sym typeface="Arial"/>
                        </a:rPr>
                        <a:t> college of Engineering and Management</a:t>
                      </a:r>
                    </a:p>
                    <a:p>
                      <a:pPr marL="0" marR="0" lvl="0" indent="0" algn="l" defTabSz="914400" rtl="0" eaLnBrk="1" fontAlgn="auto" latinLnBrk="0" hangingPunct="1">
                        <a:lnSpc>
                          <a:spcPts val="3359"/>
                        </a:lnSpc>
                        <a:spcBef>
                          <a:spcPts val="0"/>
                        </a:spcBef>
                        <a:spcAft>
                          <a:spcPts val="0"/>
                        </a:spcAft>
                        <a:buClrTx/>
                        <a:buSzTx/>
                        <a:buFontTx/>
                        <a:buNone/>
                        <a:tabLst/>
                        <a:defRPr/>
                      </a:pPr>
                      <a:r>
                        <a:rPr lang="en-US" sz="2000" dirty="0">
                          <a:solidFill>
                            <a:srgbClr val="000000"/>
                          </a:solidFill>
                          <a:latin typeface="Arial"/>
                          <a:ea typeface="Arial"/>
                          <a:cs typeface="Arial"/>
                          <a:sym typeface="Arial"/>
                        </a:rPr>
                        <a:t>LinkedIn:</a:t>
                      </a:r>
                      <a:r>
                        <a:rPr lang="en-IN" sz="2000" u="sng" dirty="0">
                          <a:solidFill>
                            <a:schemeClr val="tx1"/>
                          </a:solidFill>
                          <a:hlinkClick r:id="rId4" tooltip="https://www.linkedin.com/in/samarth-pathare-b922042b2/">
                            <a:extLst>
                              <a:ext uri="{A12FA001-AC4F-418D-AE19-62706E023703}">
                                <ahyp:hlinkClr xmlns:ahyp="http://schemas.microsoft.com/office/drawing/2018/hyperlinkcolor" val="tx"/>
                              </a:ext>
                            </a:extLst>
                          </a:hlinkClick>
                        </a:rPr>
                        <a:t>https://www.linkedin.com/in/samarth-pathare-b922042b2/</a:t>
                      </a:r>
                      <a:endParaRPr lang="en-IN" sz="2000" u="sng" dirty="0">
                        <a:solidFill>
                          <a:schemeClr val="tx1"/>
                        </a:solidFill>
                      </a:endParaRPr>
                    </a:p>
                    <a:p>
                      <a:pPr algn="l">
                        <a:lnSpc>
                          <a:spcPts val="3359"/>
                        </a:lnSpc>
                      </a:pPr>
                      <a:endParaRPr lang="en-US" sz="2000" u="sng" dirty="0">
                        <a:solidFill>
                          <a:schemeClr val="tx1"/>
                        </a:solidFill>
                        <a:latin typeface="Arial"/>
                        <a:ea typeface="Arial"/>
                        <a:cs typeface="Arial"/>
                        <a:sym typeface="Arial"/>
                      </a:endParaRPr>
                    </a:p>
                    <a:p>
                      <a:pPr algn="l">
                        <a:lnSpc>
                          <a:spcPts val="3359"/>
                        </a:lnSpc>
                      </a:pPr>
                      <a:endParaRPr lang="en-US" sz="2000" dirty="0">
                        <a:solidFill>
                          <a:srgbClr val="000000"/>
                        </a:solidFill>
                        <a:latin typeface="Arial"/>
                        <a:ea typeface="Arial"/>
                        <a:cs typeface="Arial"/>
                        <a:sym typeface="Arial"/>
                      </a:endParaRPr>
                    </a:p>
                    <a:p>
                      <a:pPr algn="l">
                        <a:lnSpc>
                          <a:spcPts val="3359"/>
                        </a:lnSpc>
                      </a:pPr>
                      <a:endParaRPr lang="en-US" sz="2000" dirty="0">
                        <a:solidFill>
                          <a:srgbClr val="000000"/>
                        </a:solidFill>
                        <a:latin typeface="Arial"/>
                        <a:ea typeface="Arial"/>
                        <a:cs typeface="Arial"/>
                        <a:sym typeface="Aria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88429">
                <a:tc>
                  <a:txBody>
                    <a:bodyPr/>
                    <a:lstStyle/>
                    <a:p>
                      <a:pPr algn="l">
                        <a:lnSpc>
                          <a:spcPts val="3359"/>
                        </a:lnSpc>
                        <a:defRPr/>
                      </a:pPr>
                      <a:r>
                        <a:rPr lang="en-US" sz="2000" dirty="0">
                          <a:solidFill>
                            <a:srgbClr val="000000"/>
                          </a:solidFill>
                          <a:latin typeface="Arial"/>
                          <a:ea typeface="Arial"/>
                          <a:cs typeface="Arial"/>
                          <a:sym typeface="Arial"/>
                        </a:rPr>
                        <a:t>Team Member 2: </a:t>
                      </a:r>
                      <a:endParaRPr lang="en-US" sz="1000" dirty="0"/>
                    </a:p>
                    <a:p>
                      <a:pPr algn="l">
                        <a:lnSpc>
                          <a:spcPts val="3359"/>
                        </a:lnSpc>
                      </a:pPr>
                      <a:r>
                        <a:rPr lang="en-US" sz="2000" dirty="0" err="1">
                          <a:solidFill>
                            <a:srgbClr val="000000"/>
                          </a:solidFill>
                          <a:latin typeface="Arial"/>
                          <a:ea typeface="Arial"/>
                          <a:cs typeface="Arial"/>
                          <a:sym typeface="Arial"/>
                        </a:rPr>
                        <a:t>Name:Nachiket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Bawankar</a:t>
                      </a:r>
                      <a:r>
                        <a:rPr lang="en-US" sz="2000" dirty="0">
                          <a:solidFill>
                            <a:srgbClr val="000000"/>
                          </a:solidFill>
                          <a:latin typeface="Arial"/>
                          <a:ea typeface="Arial"/>
                          <a:cs typeface="Arial"/>
                          <a:sym typeface="Arial"/>
                        </a:rPr>
                        <a:t> </a:t>
                      </a:r>
                    </a:p>
                    <a:p>
                      <a:pPr algn="l">
                        <a:lnSpc>
                          <a:spcPts val="3359"/>
                        </a:lnSpc>
                      </a:pPr>
                      <a:r>
                        <a:rPr lang="en-US" sz="2000" dirty="0" err="1">
                          <a:solidFill>
                            <a:srgbClr val="000000"/>
                          </a:solidFill>
                          <a:latin typeface="Arial"/>
                          <a:ea typeface="Arial"/>
                          <a:cs typeface="Arial"/>
                          <a:sym typeface="Arial"/>
                        </a:rPr>
                        <a:t>College:JD</a:t>
                      </a:r>
                      <a:r>
                        <a:rPr lang="en-US" sz="2000" dirty="0">
                          <a:solidFill>
                            <a:srgbClr val="000000"/>
                          </a:solidFill>
                          <a:latin typeface="Arial"/>
                          <a:ea typeface="Arial"/>
                          <a:cs typeface="Arial"/>
                          <a:sym typeface="Arial"/>
                        </a:rPr>
                        <a:t> college of Engineering and Management</a:t>
                      </a:r>
                    </a:p>
                    <a:p>
                      <a:pPr algn="l">
                        <a:lnSpc>
                          <a:spcPts val="3359"/>
                        </a:lnSpc>
                      </a:pPr>
                      <a:r>
                        <a:rPr lang="en-US" sz="2000" dirty="0">
                          <a:solidFill>
                            <a:srgbClr val="000000"/>
                          </a:solidFill>
                          <a:latin typeface="Arial"/>
                          <a:ea typeface="Arial"/>
                          <a:cs typeface="Arial"/>
                          <a:sym typeface="Arial"/>
                        </a:rPr>
                        <a:t>LinkedIn</a:t>
                      </a:r>
                      <a:r>
                        <a:rPr lang="en-US" sz="2000" u="sng" dirty="0">
                          <a:solidFill>
                            <a:schemeClr val="tx1"/>
                          </a:solidFill>
                          <a:latin typeface="Arial"/>
                          <a:ea typeface="Arial"/>
                          <a:cs typeface="Arial"/>
                          <a:sym typeface="Arial"/>
                        </a:rPr>
                        <a:t>: https://www.linkedin.com/in/nachiket </a:t>
                      </a:r>
                      <a:r>
                        <a:rPr lang="en-US" sz="2000" u="sng" dirty="0" err="1">
                          <a:solidFill>
                            <a:schemeClr val="tx1"/>
                          </a:solidFill>
                          <a:latin typeface="Arial"/>
                          <a:ea typeface="Arial"/>
                          <a:cs typeface="Arial"/>
                          <a:sym typeface="Arial"/>
                        </a:rPr>
                        <a:t>bawankar</a:t>
                      </a:r>
                      <a:r>
                        <a:rPr lang="en-US" sz="2000" u="sng" dirty="0">
                          <a:solidFill>
                            <a:schemeClr val="tx1"/>
                          </a:solidFill>
                          <a:latin typeface="Arial"/>
                          <a:ea typeface="Arial"/>
                          <a:cs typeface="Arial"/>
                          <a:sym typeface="Arial"/>
                        </a:rPr>
                        <a:t> /-95242713aa/</a:t>
                      </a:r>
                    </a:p>
                    <a:p>
                      <a:pPr algn="l">
                        <a:lnSpc>
                          <a:spcPts val="3359"/>
                        </a:lnSpc>
                      </a:pPr>
                      <a:endParaRPr lang="en-US" sz="2000" dirty="0">
                        <a:solidFill>
                          <a:srgbClr val="000000"/>
                        </a:solidFill>
                        <a:latin typeface="Arial"/>
                        <a:ea typeface="Arial"/>
                        <a:cs typeface="Arial"/>
                        <a:sym typeface="Arial"/>
                      </a:endParaRPr>
                    </a:p>
                    <a:p>
                      <a:pPr algn="l">
                        <a:lnSpc>
                          <a:spcPts val="3359"/>
                        </a:lnSpc>
                      </a:pPr>
                      <a:endParaRPr lang="en-US" sz="2000" dirty="0">
                        <a:solidFill>
                          <a:srgbClr val="000000"/>
                        </a:solidFill>
                        <a:latin typeface="Arial"/>
                        <a:ea typeface="Arial"/>
                        <a:cs typeface="Arial"/>
                        <a:sym typeface="Aria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3359"/>
                        </a:lnSpc>
                        <a:defRPr/>
                      </a:pPr>
                      <a:r>
                        <a:rPr lang="en-US" sz="2000" dirty="0">
                          <a:solidFill>
                            <a:srgbClr val="000000"/>
                          </a:solidFill>
                          <a:latin typeface="Arial"/>
                          <a:ea typeface="Arial"/>
                          <a:cs typeface="Arial"/>
                          <a:sym typeface="Arial"/>
                        </a:rPr>
                        <a:t>Team Member 4: </a:t>
                      </a:r>
                      <a:endParaRPr lang="en-US" sz="1000" dirty="0"/>
                    </a:p>
                    <a:p>
                      <a:pPr algn="l">
                        <a:lnSpc>
                          <a:spcPts val="3359"/>
                        </a:lnSpc>
                      </a:pPr>
                      <a:r>
                        <a:rPr lang="en-US" sz="2000" dirty="0">
                          <a:solidFill>
                            <a:srgbClr val="000000"/>
                          </a:solidFill>
                          <a:latin typeface="Arial"/>
                          <a:ea typeface="Arial"/>
                          <a:cs typeface="Arial"/>
                          <a:sym typeface="Arial"/>
                        </a:rPr>
                        <a:t>Name: Yash Dudhane</a:t>
                      </a:r>
                    </a:p>
                    <a:p>
                      <a:pPr algn="l">
                        <a:lnSpc>
                          <a:spcPts val="3359"/>
                        </a:lnSpc>
                      </a:pPr>
                      <a:r>
                        <a:rPr lang="en-US" sz="2000" dirty="0" err="1">
                          <a:solidFill>
                            <a:srgbClr val="000000"/>
                          </a:solidFill>
                          <a:latin typeface="Arial"/>
                          <a:ea typeface="Arial"/>
                          <a:cs typeface="Arial"/>
                          <a:sym typeface="Arial"/>
                        </a:rPr>
                        <a:t>College:JD</a:t>
                      </a:r>
                      <a:r>
                        <a:rPr lang="en-US" sz="2000" dirty="0">
                          <a:solidFill>
                            <a:srgbClr val="000000"/>
                          </a:solidFill>
                          <a:latin typeface="Arial"/>
                          <a:ea typeface="Arial"/>
                          <a:cs typeface="Arial"/>
                          <a:sym typeface="Arial"/>
                        </a:rPr>
                        <a:t> college of Engineering and Management</a:t>
                      </a:r>
                    </a:p>
                    <a:p>
                      <a:pPr algn="l">
                        <a:lnSpc>
                          <a:spcPts val="3359"/>
                        </a:lnSpc>
                      </a:pPr>
                      <a:r>
                        <a:rPr lang="en-US" sz="2000" dirty="0" err="1">
                          <a:solidFill>
                            <a:srgbClr val="000000"/>
                          </a:solidFill>
                          <a:latin typeface="Arial"/>
                          <a:ea typeface="Arial"/>
                          <a:cs typeface="Arial"/>
                          <a:sym typeface="Arial"/>
                        </a:rPr>
                        <a:t>LinkedIn:</a:t>
                      </a:r>
                      <a:r>
                        <a:rPr lang="en-US" sz="2000" u="sng" dirty="0" err="1">
                          <a:solidFill>
                            <a:srgbClr val="000000"/>
                          </a:solidFill>
                          <a:latin typeface="Arial"/>
                          <a:ea typeface="Arial"/>
                          <a:cs typeface="Arial"/>
                          <a:sym typeface="Arial"/>
                        </a:rPr>
                        <a:t>https</a:t>
                      </a:r>
                      <a:r>
                        <a:rPr lang="en-US" sz="2000" u="sng" dirty="0">
                          <a:solidFill>
                            <a:srgbClr val="000000"/>
                          </a:solidFill>
                          <a:latin typeface="Arial"/>
                          <a:ea typeface="Arial"/>
                          <a:cs typeface="Arial"/>
                          <a:sym typeface="Arial"/>
                        </a:rPr>
                        <a:t>://www.linkedin.com/in/yash-dudhane-5044333b3/</a:t>
                      </a:r>
                    </a:p>
                    <a:p>
                      <a:pPr algn="l">
                        <a:lnSpc>
                          <a:spcPts val="3359"/>
                        </a:lnSpc>
                      </a:pPr>
                      <a:endParaRPr lang="en-US" sz="2000" dirty="0">
                        <a:solidFill>
                          <a:srgbClr val="000000"/>
                        </a:solidFill>
                        <a:latin typeface="Arial"/>
                        <a:ea typeface="Arial"/>
                        <a:cs typeface="Arial"/>
                        <a:sym typeface="Arial"/>
                      </a:endParaRPr>
                    </a:p>
                    <a:p>
                      <a:pPr algn="l">
                        <a:lnSpc>
                          <a:spcPts val="3359"/>
                        </a:lnSpc>
                      </a:pPr>
                      <a:endParaRPr lang="en-US" sz="2000" dirty="0">
                        <a:solidFill>
                          <a:srgbClr val="000000"/>
                        </a:solidFill>
                        <a:latin typeface="Arial"/>
                        <a:ea typeface="Arial"/>
                        <a:cs typeface="Arial"/>
                        <a:sym typeface="Arial"/>
                      </a:endParaRPr>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0600" y="1866900"/>
            <a:ext cx="16154400" cy="5515164"/>
          </a:xfrm>
          <a:prstGeom prst="rect">
            <a:avLst/>
          </a:prstGeom>
        </p:spPr>
        <p:txBody>
          <a:bodyPr wrap="square" lIns="0" tIns="0" rIns="0" bIns="0" rtlCol="0" anchor="t">
            <a:spAutoFit/>
          </a:bodyPr>
          <a:lstStyle/>
          <a:p>
            <a:pPr algn="ctr">
              <a:lnSpc>
                <a:spcPts val="4098"/>
              </a:lnSpc>
            </a:pPr>
            <a:r>
              <a:rPr lang="en-US" sz="4800" dirty="0">
                <a:solidFill>
                  <a:srgbClr val="000000"/>
                </a:solidFill>
                <a:latin typeface="Arial" panose="020B0604020202020204" pitchFamily="34" charset="0"/>
                <a:ea typeface="Arimo"/>
                <a:cs typeface="Arial" panose="020B0604020202020204" pitchFamily="34" charset="0"/>
                <a:sym typeface="Arimo"/>
              </a:rPr>
              <a:t>Brief about the Idea</a:t>
            </a:r>
            <a:r>
              <a:rPr lang="en-US" sz="3300" b="1" dirty="0">
                <a:solidFill>
                  <a:srgbClr val="000000"/>
                </a:solidFill>
                <a:latin typeface="Algerian" panose="04020705040A02060702" pitchFamily="82" charset="0"/>
                <a:ea typeface="Arimo"/>
                <a:cs typeface="Arimo"/>
                <a:sym typeface="Arimo"/>
              </a:rPr>
              <a:t>:</a:t>
            </a:r>
          </a:p>
          <a:p>
            <a:pPr algn="ctr">
              <a:lnSpc>
                <a:spcPts val="4098"/>
              </a:lnSpc>
            </a:pPr>
            <a:endParaRPr lang="en-US" sz="3300" b="1" dirty="0">
              <a:solidFill>
                <a:srgbClr val="000000"/>
              </a:solidFill>
              <a:latin typeface="Algerian" panose="04020705040A02060702" pitchFamily="82" charset="0"/>
              <a:ea typeface="Arimo"/>
              <a:cs typeface="Arimo"/>
              <a:sym typeface="Arimo"/>
            </a:endParaRPr>
          </a:p>
          <a:p>
            <a:pPr marL="457200" indent="-457200" algn="just">
              <a:buFont typeface="Arial" panose="020B0604020202020204" pitchFamily="34" charset="0"/>
              <a:buChar char="•"/>
            </a:pPr>
            <a:r>
              <a:rPr lang="en-US" sz="3200" dirty="0"/>
              <a:t>EEG-Based Schizophrenia Detection is a project that uses </a:t>
            </a:r>
            <a:r>
              <a:rPr lang="en-US" sz="3200" b="1" dirty="0"/>
              <a:t>EEG (Electroencephalography) brain signals</a:t>
            </a:r>
            <a:r>
              <a:rPr lang="en-US" sz="3200" dirty="0"/>
              <a:t> to identify schizophrenia with the help of </a:t>
            </a:r>
            <a:r>
              <a:rPr lang="en-US" sz="3200" b="1" dirty="0"/>
              <a:t>machine learning</a:t>
            </a:r>
            <a:r>
              <a:rPr lang="en-US" sz="3200" dirty="0"/>
              <a:t>.</a:t>
            </a:r>
          </a:p>
          <a:p>
            <a:pPr marL="457200" indent="-457200" algn="just">
              <a:buFont typeface="Arial" panose="020B0604020202020204" pitchFamily="34" charset="0"/>
              <a:buChar char="•"/>
            </a:pPr>
            <a:r>
              <a:rPr lang="en-US" sz="3200" dirty="0"/>
              <a:t>In this system, brain wave data is collected from patients and healthy individuals. The EEG signals are cleaned and important features are extracted. Then, an AI model is trained to classify whether a person has schizophrenia or not.</a:t>
            </a:r>
          </a:p>
          <a:p>
            <a:pPr marL="457200" indent="-457200" algn="just">
              <a:buFont typeface="Arial" panose="020B0604020202020204" pitchFamily="34" charset="0"/>
              <a:buChar char="•"/>
            </a:pPr>
            <a:r>
              <a:rPr lang="en-US" sz="3200" dirty="0"/>
              <a:t>The main goal of this project is to provide </a:t>
            </a:r>
            <a:r>
              <a:rPr lang="en-US" sz="3200" b="1" dirty="0"/>
              <a:t>early, fast, and objective diagnosis support</a:t>
            </a:r>
            <a:r>
              <a:rPr lang="en-US" sz="3200" dirty="0"/>
              <a:t> instead of relying only on behavioral observation.</a:t>
            </a:r>
          </a:p>
          <a:p>
            <a:pPr algn="l">
              <a:lnSpc>
                <a:spcPts val="4098"/>
              </a:lnSpc>
            </a:pPr>
            <a:endParaRPr lang="en-US" sz="3300" dirty="0">
              <a:solidFill>
                <a:srgbClr val="000000"/>
              </a:solidFill>
              <a:latin typeface="Arimo"/>
              <a:ea typeface="Arimo"/>
              <a:cs typeface="Arimo"/>
              <a:sym typeface="Arimo"/>
            </a:endParaRPr>
          </a:p>
          <a:p>
            <a:pPr algn="l">
              <a:lnSpc>
                <a:spcPts val="4098"/>
              </a:lnSpc>
            </a:pPr>
            <a:endParaRPr lang="en-US" sz="3300" dirty="0">
              <a:solidFill>
                <a:srgbClr val="000000"/>
              </a:solidFill>
              <a:latin typeface="Arimo"/>
              <a:ea typeface="Arimo"/>
              <a:cs typeface="Arimo"/>
              <a:sym typeface="Arim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0600" y="952500"/>
            <a:ext cx="14859000" cy="8966557"/>
          </a:xfrm>
          <a:prstGeom prst="rect">
            <a:avLst/>
          </a:prstGeom>
        </p:spPr>
        <p:txBody>
          <a:bodyPr wrap="square" lIns="0" tIns="0" rIns="0" bIns="0" rtlCol="0" anchor="t">
            <a:spAutoFit/>
          </a:bodyPr>
          <a:lstStyle/>
          <a:p>
            <a:pPr algn="ctr">
              <a:lnSpc>
                <a:spcPts val="3560"/>
              </a:lnSpc>
            </a:pPr>
            <a:r>
              <a:rPr lang="en-US" sz="4000" b="1" dirty="0">
                <a:solidFill>
                  <a:srgbClr val="000000"/>
                </a:solidFill>
                <a:latin typeface="Arimo"/>
                <a:ea typeface="Arimo"/>
                <a:cs typeface="Arimo"/>
                <a:sym typeface="Arimo"/>
              </a:rPr>
              <a:t>Opportunity should be able to explain the following</a:t>
            </a:r>
          </a:p>
          <a:p>
            <a:pPr algn="ctr">
              <a:lnSpc>
                <a:spcPts val="3560"/>
              </a:lnSpc>
            </a:pPr>
            <a:endParaRPr lang="en-US" sz="3200" b="1" dirty="0">
              <a:solidFill>
                <a:srgbClr val="000000"/>
              </a:solidFill>
              <a:latin typeface="Arimo"/>
              <a:ea typeface="Arimo"/>
              <a:cs typeface="Arimo"/>
              <a:sym typeface="Arimo"/>
            </a:endParaRPr>
          </a:p>
          <a:p>
            <a:pPr marL="573723" indent="-515461" algn="just">
              <a:buFont typeface="Wingdings" panose="05000000000000000000" pitchFamily="2" charset="2"/>
              <a:buChar char="v"/>
            </a:pPr>
            <a:r>
              <a:rPr lang="en-US" sz="3200" dirty="0">
                <a:latin typeface="Arial" panose="020B0604020202020204" pitchFamily="34" charset="0"/>
                <a:ea typeface="Arimo"/>
                <a:cs typeface="Arial" panose="020B0604020202020204" pitchFamily="34" charset="0"/>
                <a:sym typeface="Arimo"/>
              </a:rPr>
              <a:t>How different is it from any of the other existing ideas?</a:t>
            </a:r>
          </a:p>
          <a:p>
            <a:pPr marL="457200" indent="-457200" algn="just">
              <a:buFont typeface="Arial" panose="020B0604020202020204" pitchFamily="34" charset="0"/>
              <a:buChar char="•"/>
            </a:pPr>
            <a:r>
              <a:rPr lang="en-US" sz="3200" dirty="0"/>
              <a:t>Unlike traditional methods that rely on interviews and behavior observation, this project uses </a:t>
            </a:r>
            <a:r>
              <a:rPr lang="en-US" sz="3200" b="1" dirty="0"/>
              <a:t>EEG brain signals with AI</a:t>
            </a:r>
            <a:r>
              <a:rPr lang="en-US" sz="3200" dirty="0"/>
              <a:t>, making it more objective and data-driven.</a:t>
            </a:r>
          </a:p>
          <a:p>
            <a:pPr marL="515462" lvl="1" algn="just"/>
            <a:endParaRPr lang="en-US" sz="3200" dirty="0">
              <a:solidFill>
                <a:srgbClr val="595959"/>
              </a:solidFill>
              <a:latin typeface="Arimo"/>
              <a:ea typeface="Arimo"/>
              <a:cs typeface="Arimo"/>
              <a:sym typeface="Arimo"/>
            </a:endParaRPr>
          </a:p>
          <a:p>
            <a:pPr marL="515462" indent="-457200" algn="just">
              <a:buFont typeface="Wingdings" panose="05000000000000000000" pitchFamily="2" charset="2"/>
              <a:buChar char="v"/>
            </a:pPr>
            <a:r>
              <a:rPr lang="en-US" sz="3200" dirty="0">
                <a:latin typeface="Arimo"/>
                <a:ea typeface="Arimo"/>
                <a:cs typeface="Arimo"/>
                <a:sym typeface="Arimo"/>
              </a:rPr>
              <a:t>How will it be able to solve the problem?</a:t>
            </a:r>
          </a:p>
          <a:p>
            <a:pPr marL="457200" indent="-457200" algn="just">
              <a:buFont typeface="Arial" panose="020B0604020202020204" pitchFamily="34" charset="0"/>
              <a:buChar char="•"/>
            </a:pPr>
            <a:r>
              <a:rPr lang="en-US" sz="3200" dirty="0"/>
              <a:t>It analyzes brain wave patterns to detect schizophrenia early and supports        doctors with faster, more accurate screening.</a:t>
            </a:r>
          </a:p>
          <a:p>
            <a:pPr algn="just"/>
            <a:endParaRPr lang="en-US" sz="3200" dirty="0"/>
          </a:p>
          <a:p>
            <a:pPr marL="457200" indent="-457200" algn="just">
              <a:buFont typeface="Wingdings" panose="05000000000000000000" pitchFamily="2" charset="2"/>
              <a:buChar char="v"/>
            </a:pPr>
            <a:r>
              <a:rPr lang="en-US" sz="3200" dirty="0">
                <a:latin typeface="Arimo"/>
                <a:ea typeface="Arimo"/>
                <a:cs typeface="Arimo"/>
                <a:sym typeface="Arimo"/>
              </a:rPr>
              <a:t>USP of the proposed solution:-</a:t>
            </a:r>
            <a:endParaRPr lang="en-US" sz="3200" dirty="0"/>
          </a:p>
          <a:p>
            <a:pPr marL="457200" indent="-457200" algn="just">
              <a:buFont typeface="Arial" panose="020B0604020202020204" pitchFamily="34" charset="0"/>
              <a:buChar char="•"/>
            </a:pPr>
            <a:r>
              <a:rPr lang="en-US" sz="3200" dirty="0"/>
              <a:t>Brain-signal-based detection</a:t>
            </a:r>
          </a:p>
          <a:p>
            <a:pPr marL="457200" indent="-457200" algn="just">
              <a:buFont typeface="Arial" panose="020B0604020202020204" pitchFamily="34" charset="0"/>
              <a:buChar char="•"/>
            </a:pPr>
            <a:r>
              <a:rPr lang="en-US" sz="3200" dirty="0"/>
              <a:t>AI-powered automatic analysis</a:t>
            </a:r>
          </a:p>
          <a:p>
            <a:pPr marL="457200" indent="-457200" algn="just">
              <a:buFont typeface="Arial" panose="020B0604020202020204" pitchFamily="34" charset="0"/>
              <a:buChar char="•"/>
            </a:pPr>
            <a:r>
              <a:rPr lang="en-US" sz="3200" dirty="0"/>
              <a:t>Faster and more reliable diagnosis support</a:t>
            </a:r>
          </a:p>
          <a:p>
            <a:pPr marL="457200" indent="-457200" algn="just">
              <a:buFont typeface="Arial" panose="020B0604020202020204" pitchFamily="34" charset="0"/>
              <a:buChar char="•"/>
            </a:pPr>
            <a:r>
              <a:rPr lang="en-US" sz="3200" dirty="0"/>
              <a:t>Useful for early detection and treatment planning</a:t>
            </a:r>
          </a:p>
          <a:p>
            <a:pPr marL="1086962" lvl="1" indent="-571500">
              <a:lnSpc>
                <a:spcPts val="4644"/>
              </a:lnSpc>
              <a:buFont typeface="Arial" panose="020B0604020202020204" pitchFamily="34" charset="0"/>
              <a:buChar char="•"/>
            </a:pPr>
            <a:endParaRPr lang="en-US" sz="3200" dirty="0">
              <a:solidFill>
                <a:srgbClr val="595959"/>
              </a:solidFill>
              <a:latin typeface="Arimo"/>
              <a:ea typeface="Arimo"/>
              <a:cs typeface="Arimo"/>
              <a:sym typeface="Arimo"/>
            </a:endParaRPr>
          </a:p>
          <a:p>
            <a:pPr marL="1030923" lvl="1" indent="-515461" algn="l">
              <a:lnSpc>
                <a:spcPts val="4644"/>
              </a:lnSpc>
              <a:buFont typeface="Arial"/>
              <a:buChar char="•"/>
            </a:pPr>
            <a:endParaRPr lang="en-US" sz="3225" dirty="0">
              <a:solidFill>
                <a:srgbClr val="595959"/>
              </a:solidFill>
              <a:latin typeface="Arimo"/>
              <a:ea typeface="Arimo"/>
              <a:cs typeface="Arimo"/>
              <a:sym typeface="Arimo"/>
            </a:endParaRPr>
          </a:p>
          <a:p>
            <a:pPr marL="1030923" lvl="1" indent="-515461" algn="l">
              <a:lnSpc>
                <a:spcPts val="3560"/>
              </a:lnSpc>
            </a:pPr>
            <a:endParaRPr lang="en-US" sz="3225" dirty="0">
              <a:solidFill>
                <a:srgbClr val="595959"/>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825" y="1608975"/>
            <a:ext cx="14955750" cy="5206362"/>
          </a:xfrm>
          <a:prstGeom prst="rect">
            <a:avLst/>
          </a:prstGeom>
        </p:spPr>
        <p:txBody>
          <a:bodyPr lIns="0" tIns="0" rIns="0" bIns="0" rtlCol="0" anchor="t">
            <a:spAutoFit/>
          </a:bodyPr>
          <a:lstStyle/>
          <a:p>
            <a:pPr algn="ctr"/>
            <a:r>
              <a:rPr lang="en-US" sz="4000" b="1" dirty="0">
                <a:latin typeface="Arial" panose="020B0604020202020204" pitchFamily="34" charset="0"/>
                <a:cs typeface="Arial" panose="020B0604020202020204" pitchFamily="34" charset="0"/>
              </a:rPr>
              <a:t>List of Features Offered by the Solution</a:t>
            </a:r>
          </a:p>
          <a:p>
            <a:endParaRPr lang="en-US" sz="3200" b="1" dirty="0"/>
          </a:p>
          <a:p>
            <a:pPr marL="457200" indent="-457200">
              <a:buFont typeface="Arial" panose="020B0604020202020204" pitchFamily="34" charset="0"/>
              <a:buChar char="•"/>
            </a:pPr>
            <a:r>
              <a:rPr lang="en-US" sz="3200" dirty="0"/>
              <a:t>EEG Signal Acquisition – Collects real-time brain wave data.</a:t>
            </a:r>
          </a:p>
          <a:p>
            <a:pPr marL="457200" indent="-457200">
              <a:buFont typeface="Arial" panose="020B0604020202020204" pitchFamily="34" charset="0"/>
              <a:buChar char="•"/>
            </a:pPr>
            <a:r>
              <a:rPr lang="en-US" sz="3200" dirty="0"/>
              <a:t>Signal Preprocessing – Removes noise and unwanted disturbances.</a:t>
            </a:r>
          </a:p>
          <a:p>
            <a:pPr marL="457200" indent="-457200">
              <a:buFont typeface="Arial" panose="020B0604020202020204" pitchFamily="34" charset="0"/>
              <a:buChar char="•"/>
            </a:pPr>
            <a:r>
              <a:rPr lang="en-US" sz="3200" dirty="0"/>
              <a:t>Feature Extraction – Extracts important brain wave features (Alpha, Beta, Theta, etc.).</a:t>
            </a:r>
          </a:p>
          <a:p>
            <a:pPr marL="457200" indent="-457200">
              <a:buFont typeface="Arial" panose="020B0604020202020204" pitchFamily="34" charset="0"/>
              <a:buChar char="•"/>
            </a:pPr>
            <a:r>
              <a:rPr lang="en-US" sz="3200" dirty="0"/>
              <a:t>AI-Based Classification – Uses Machine Learning to detect schizophrenia patterns.</a:t>
            </a:r>
          </a:p>
          <a:p>
            <a:pPr marL="457200" indent="-457200">
              <a:buFont typeface="Arial" panose="020B0604020202020204" pitchFamily="34" charset="0"/>
              <a:buChar char="•"/>
            </a:pPr>
            <a:r>
              <a:rPr lang="en-US" sz="3200" dirty="0"/>
              <a:t>Early Detection Support – Helps identify signs at an early stage.</a:t>
            </a:r>
          </a:p>
          <a:p>
            <a:pPr marL="457200" indent="-457200">
              <a:buFont typeface="Arial" panose="020B0604020202020204" pitchFamily="34" charset="0"/>
              <a:buChar char="•"/>
            </a:pPr>
            <a:r>
              <a:rPr lang="en-US" sz="3200" dirty="0"/>
              <a:t>Fast Screening System – Provides quicker results compared to traditional methods.</a:t>
            </a:r>
          </a:p>
          <a:p>
            <a:pPr marL="457200" indent="-457200">
              <a:buFont typeface="Arial" panose="020B0604020202020204" pitchFamily="34" charset="0"/>
              <a:buChar char="•"/>
            </a:pPr>
            <a:r>
              <a:rPr lang="en-US" sz="3200" dirty="0"/>
              <a:t>User-Friendly Interface – Can be developed as a simple desktop or mobile app.</a:t>
            </a:r>
          </a:p>
          <a:p>
            <a:pPr>
              <a:lnSpc>
                <a:spcPts val="5760"/>
              </a:lnSpc>
            </a:pPr>
            <a:endParaRPr lang="en-US" sz="3200" dirty="0">
              <a:solidFill>
                <a:srgbClr val="595959"/>
              </a:solidFill>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825" y="1732800"/>
            <a:ext cx="14955750" cy="1080873"/>
          </a:xfrm>
          <a:prstGeom prst="rect">
            <a:avLst/>
          </a:prstGeom>
        </p:spPr>
        <p:txBody>
          <a:bodyPr lIns="0" tIns="0" rIns="0" bIns="0" rtlCol="0" anchor="t">
            <a:spAutoFit/>
          </a:bodyPr>
          <a:lstStyle/>
          <a:p>
            <a:pPr algn="ctr">
              <a:lnSpc>
                <a:spcPts val="4416"/>
              </a:lnSpc>
            </a:pPr>
            <a:r>
              <a:rPr lang="en-US" sz="4000" b="1" dirty="0">
                <a:solidFill>
                  <a:srgbClr val="000000"/>
                </a:solidFill>
                <a:latin typeface="Arimo"/>
                <a:ea typeface="Arimo"/>
                <a:cs typeface="Arimo"/>
                <a:sym typeface="Arimo"/>
              </a:rPr>
              <a:t>Process flow diagram </a:t>
            </a:r>
          </a:p>
          <a:p>
            <a:pPr algn="l">
              <a:lnSpc>
                <a:spcPts val="4416"/>
              </a:lnSpc>
            </a:pPr>
            <a:endParaRPr lang="en-US" sz="3200" dirty="0">
              <a:solidFill>
                <a:srgbClr val="595959"/>
              </a:solidFill>
              <a:latin typeface="Arimo"/>
              <a:ea typeface="Arimo"/>
              <a:cs typeface="Arimo"/>
              <a:sym typeface="Arimo"/>
            </a:endParaRPr>
          </a:p>
        </p:txBody>
      </p:sp>
      <p:pic>
        <p:nvPicPr>
          <p:cNvPr id="4" name="Picture 3">
            <a:extLst>
              <a:ext uri="{FF2B5EF4-FFF2-40B4-BE49-F238E27FC236}">
                <a16:creationId xmlns:a16="http://schemas.microsoft.com/office/drawing/2014/main" id="{07E35DA3-CE6E-E7E5-AB0F-3E231D8033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2628900"/>
            <a:ext cx="11060068" cy="35056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825" y="1732800"/>
            <a:ext cx="14955750" cy="1080873"/>
          </a:xfrm>
          <a:prstGeom prst="rect">
            <a:avLst/>
          </a:prstGeom>
        </p:spPr>
        <p:txBody>
          <a:bodyPr lIns="0" tIns="0" rIns="0" bIns="0" rtlCol="0" anchor="t">
            <a:spAutoFit/>
          </a:bodyPr>
          <a:lstStyle/>
          <a:p>
            <a:pPr algn="ctr">
              <a:lnSpc>
                <a:spcPts val="4416"/>
              </a:lnSpc>
            </a:pPr>
            <a:r>
              <a:rPr lang="en-US" sz="4000" dirty="0">
                <a:solidFill>
                  <a:srgbClr val="000000"/>
                </a:solidFill>
                <a:latin typeface="Arimo"/>
                <a:ea typeface="Arimo"/>
                <a:cs typeface="Arimo"/>
                <a:sym typeface="Arimo"/>
              </a:rPr>
              <a:t>Architecture diagram of the proposed solution</a:t>
            </a:r>
          </a:p>
          <a:p>
            <a:pPr algn="l">
              <a:lnSpc>
                <a:spcPts val="4416"/>
              </a:lnSpc>
            </a:pPr>
            <a:endParaRPr lang="en-US" sz="3200" dirty="0">
              <a:solidFill>
                <a:srgbClr val="000000"/>
              </a:solidFill>
              <a:latin typeface="Arimo"/>
              <a:ea typeface="Arimo"/>
              <a:cs typeface="Arimo"/>
              <a:sym typeface="Arimo"/>
            </a:endParaRPr>
          </a:p>
        </p:txBody>
      </p:sp>
      <p:pic>
        <p:nvPicPr>
          <p:cNvPr id="4" name="Picture 3">
            <a:extLst>
              <a:ext uri="{FF2B5EF4-FFF2-40B4-BE49-F238E27FC236}">
                <a16:creationId xmlns:a16="http://schemas.microsoft.com/office/drawing/2014/main" id="{A128AC95-8305-8349-252D-95ACF540D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7425" y="2933700"/>
            <a:ext cx="10269383" cy="58586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57400" y="571500"/>
            <a:ext cx="13335001" cy="9544729"/>
          </a:xfrm>
          <a:prstGeom prst="rect">
            <a:avLst/>
          </a:prstGeom>
        </p:spPr>
        <p:txBody>
          <a:bodyPr wrap="square" lIns="0" tIns="0" rIns="0" bIns="0" rtlCol="0" anchor="t">
            <a:spAutoFit/>
          </a:bodyPr>
          <a:lstStyle/>
          <a:p>
            <a:pPr algn="ctr">
              <a:lnSpc>
                <a:spcPts val="4416"/>
              </a:lnSpc>
            </a:pPr>
            <a:r>
              <a:rPr lang="en-US" sz="4000" dirty="0">
                <a:solidFill>
                  <a:srgbClr val="000000"/>
                </a:solidFill>
                <a:latin typeface="Arimo"/>
                <a:ea typeface="Arimo"/>
                <a:cs typeface="Arimo"/>
                <a:sym typeface="Arimo"/>
              </a:rPr>
              <a:t>Technologies to be used in the solution:</a:t>
            </a:r>
          </a:p>
          <a:p>
            <a:pPr algn="ctr">
              <a:lnSpc>
                <a:spcPts val="4416"/>
              </a:lnSpc>
            </a:pPr>
            <a:endParaRPr lang="en-US" sz="4000" dirty="0">
              <a:solidFill>
                <a:srgbClr val="000000"/>
              </a:solidFill>
              <a:latin typeface="Arimo"/>
              <a:ea typeface="Arimo"/>
              <a:cs typeface="Arimo"/>
              <a:sym typeface="Arimo"/>
            </a:endParaRPr>
          </a:p>
          <a:p>
            <a:pPr algn="l">
              <a:lnSpc>
                <a:spcPts val="4416"/>
              </a:lnSpc>
            </a:pPr>
            <a:r>
              <a:rPr lang="en-US" sz="2800" dirty="0">
                <a:solidFill>
                  <a:srgbClr val="000000"/>
                </a:solidFill>
                <a:latin typeface="Arimo"/>
                <a:ea typeface="Arimo"/>
                <a:cs typeface="Arimo"/>
                <a:sym typeface="Arimo"/>
              </a:rPr>
              <a:t>Backend :</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predict.py</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risk.py</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train.py</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config.py</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main.py</a:t>
            </a:r>
          </a:p>
          <a:p>
            <a:pPr algn="l">
              <a:lnSpc>
                <a:spcPts val="4416"/>
              </a:lnSpc>
            </a:pPr>
            <a:endParaRPr lang="en-US" sz="2800" dirty="0">
              <a:solidFill>
                <a:srgbClr val="000000"/>
              </a:solidFill>
              <a:latin typeface="Arimo"/>
              <a:ea typeface="Arimo"/>
              <a:cs typeface="Arimo"/>
              <a:sym typeface="Arimo"/>
            </a:endParaRPr>
          </a:p>
          <a:p>
            <a:pPr algn="l">
              <a:lnSpc>
                <a:spcPts val="4416"/>
              </a:lnSpc>
            </a:pPr>
            <a:r>
              <a:rPr lang="en-US" sz="2800" dirty="0">
                <a:solidFill>
                  <a:srgbClr val="000000"/>
                </a:solidFill>
                <a:latin typeface="Arimo"/>
                <a:ea typeface="Arimo"/>
                <a:cs typeface="Arimo"/>
                <a:sym typeface="Arimo"/>
              </a:rPr>
              <a:t>Frontend :</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Python </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CSS</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pandas</a:t>
            </a: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a:t>
            </a:r>
            <a:r>
              <a:rPr lang="en-US" sz="2800" dirty="0" err="1">
                <a:solidFill>
                  <a:srgbClr val="000000"/>
                </a:solidFill>
                <a:latin typeface="Arimo"/>
                <a:ea typeface="Arimo"/>
                <a:cs typeface="Arimo"/>
                <a:sym typeface="Arimo"/>
              </a:rPr>
              <a:t>streamlit</a:t>
            </a:r>
            <a:endParaRPr lang="en-US" sz="2800" dirty="0">
              <a:solidFill>
                <a:srgbClr val="000000"/>
              </a:solidFill>
              <a:latin typeface="Arimo"/>
              <a:ea typeface="Arimo"/>
              <a:cs typeface="Arimo"/>
              <a:sym typeface="Arimo"/>
            </a:endParaRP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a:t>
            </a:r>
            <a:r>
              <a:rPr lang="en-US" sz="2800" dirty="0" err="1">
                <a:solidFill>
                  <a:srgbClr val="000000"/>
                </a:solidFill>
                <a:latin typeface="Arimo"/>
                <a:ea typeface="Arimo"/>
                <a:cs typeface="Arimo"/>
                <a:sym typeface="Arimo"/>
              </a:rPr>
              <a:t>matplotlib.pyplot</a:t>
            </a:r>
            <a:endParaRPr lang="en-US" sz="2800" dirty="0">
              <a:solidFill>
                <a:srgbClr val="000000"/>
              </a:solidFill>
              <a:latin typeface="Arimo"/>
              <a:ea typeface="Arimo"/>
              <a:cs typeface="Arimo"/>
              <a:sym typeface="Arimo"/>
            </a:endParaRPr>
          </a:p>
          <a:p>
            <a:pPr marL="457200" indent="-457200" algn="l">
              <a:lnSpc>
                <a:spcPts val="4416"/>
              </a:lnSpc>
              <a:buFont typeface="Arial" panose="020B0604020202020204" pitchFamily="34" charset="0"/>
              <a:buChar char="•"/>
            </a:pPr>
            <a:r>
              <a:rPr lang="en-US" sz="2800" dirty="0">
                <a:solidFill>
                  <a:srgbClr val="000000"/>
                </a:solidFill>
                <a:latin typeface="Arimo"/>
                <a:ea typeface="Arimo"/>
                <a:cs typeface="Arimo"/>
                <a:sym typeface="Arimo"/>
              </a:rPr>
              <a:t>  </a:t>
            </a:r>
            <a:r>
              <a:rPr lang="en-US" sz="2800" dirty="0" err="1">
                <a:solidFill>
                  <a:srgbClr val="000000"/>
                </a:solidFill>
                <a:latin typeface="Arimo"/>
                <a:ea typeface="Arimo"/>
                <a:cs typeface="Arimo"/>
                <a:sym typeface="Arimo"/>
              </a:rPr>
              <a:t>numpy</a:t>
            </a:r>
            <a:endParaRPr lang="en-US" sz="2800" dirty="0">
              <a:solidFill>
                <a:srgbClr val="000000"/>
              </a:solidFill>
              <a:latin typeface="Arimo"/>
              <a:ea typeface="Arimo"/>
              <a:cs typeface="Arimo"/>
              <a:sym typeface="Arimo"/>
            </a:endParaRPr>
          </a:p>
          <a:p>
            <a:pPr marL="457200" indent="-457200" algn="l">
              <a:lnSpc>
                <a:spcPts val="4416"/>
              </a:lnSpc>
              <a:buFont typeface="Arial" panose="020B0604020202020204" pitchFamily="34" charset="0"/>
              <a:buChar char="•"/>
            </a:pPr>
            <a:endParaRPr lang="en-US" sz="3200" dirty="0">
              <a:solidFill>
                <a:srgbClr val="000000"/>
              </a:solidFill>
              <a:latin typeface="Arimo"/>
              <a:ea typeface="Arimo"/>
              <a:cs typeface="Arimo"/>
              <a:sym typeface="Arimo"/>
            </a:endParaRPr>
          </a:p>
        </p:txBody>
      </p:sp>
      <p:pic>
        <p:nvPicPr>
          <p:cNvPr id="6" name="Picture 5">
            <a:extLst>
              <a:ext uri="{FF2B5EF4-FFF2-40B4-BE49-F238E27FC236}">
                <a16:creationId xmlns:a16="http://schemas.microsoft.com/office/drawing/2014/main" id="{69326BA9-0966-B916-FE00-BADF00A38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1485900"/>
            <a:ext cx="11201400" cy="746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4069930"/>
          </a:xfrm>
          <a:custGeom>
            <a:avLst/>
            <a:gdLst/>
            <a:ahLst/>
            <a:cxnLst/>
            <a:rect l="l" t="t" r="r" b="b"/>
            <a:pathLst>
              <a:path w="18288000" h="4069930">
                <a:moveTo>
                  <a:pt x="0" y="0"/>
                </a:moveTo>
                <a:lnTo>
                  <a:pt x="18288000" y="0"/>
                </a:lnTo>
                <a:lnTo>
                  <a:pt x="18288000" y="4069930"/>
                </a:lnTo>
                <a:lnTo>
                  <a:pt x="0" y="4069930"/>
                </a:lnTo>
                <a:lnTo>
                  <a:pt x="0" y="0"/>
                </a:lnTo>
                <a:close/>
              </a:path>
            </a:pathLst>
          </a:custGeom>
          <a:blipFill>
            <a:blip r:embed="rId3"/>
            <a:stretch>
              <a:fillRect b="-40420"/>
            </a:stretch>
          </a:blipFill>
        </p:spPr>
      </p:sp>
      <p:grpSp>
        <p:nvGrpSpPr>
          <p:cNvPr id="3" name="Group 3"/>
          <p:cNvGrpSpPr/>
          <p:nvPr/>
        </p:nvGrpSpPr>
        <p:grpSpPr>
          <a:xfrm>
            <a:off x="4917036" y="5394484"/>
            <a:ext cx="7992740" cy="1958816"/>
            <a:chOff x="0" y="0"/>
            <a:chExt cx="10656987" cy="2611755"/>
          </a:xfrm>
        </p:grpSpPr>
        <p:sp>
          <p:nvSpPr>
            <p:cNvPr id="4" name="TextBox 4"/>
            <p:cNvSpPr txBox="1"/>
            <p:nvPr/>
          </p:nvSpPr>
          <p:spPr>
            <a:xfrm>
              <a:off x="0" y="-374650"/>
              <a:ext cx="6242553" cy="2986405"/>
            </a:xfrm>
            <a:prstGeom prst="rect">
              <a:avLst/>
            </a:prstGeom>
          </p:spPr>
          <p:txBody>
            <a:bodyPr lIns="0" tIns="0" rIns="0" bIns="0" rtlCol="0" anchor="t">
              <a:spAutoFit/>
            </a:bodyPr>
            <a:lstStyle/>
            <a:p>
              <a:pPr algn="ctr">
                <a:lnSpc>
                  <a:spcPts val="17771"/>
                </a:lnSpc>
                <a:spcBef>
                  <a:spcPct val="0"/>
                </a:spcBef>
              </a:pPr>
              <a:r>
                <a:rPr lang="en-US" sz="12693" i="1">
                  <a:solidFill>
                    <a:srgbClr val="A68E45"/>
                  </a:solidFill>
                  <a:latin typeface="The Seasons Italics"/>
                  <a:ea typeface="The Seasons Italics"/>
                  <a:cs typeface="The Seasons Italics"/>
                  <a:sym typeface="The Seasons Italics"/>
                </a:rPr>
                <a:t>Thank</a:t>
              </a:r>
            </a:p>
          </p:txBody>
        </p:sp>
        <p:sp>
          <p:nvSpPr>
            <p:cNvPr id="5" name="TextBox 5"/>
            <p:cNvSpPr txBox="1"/>
            <p:nvPr/>
          </p:nvSpPr>
          <p:spPr>
            <a:xfrm>
              <a:off x="6242553" y="-381000"/>
              <a:ext cx="4414434" cy="2960797"/>
            </a:xfrm>
            <a:prstGeom prst="rect">
              <a:avLst/>
            </a:prstGeom>
          </p:spPr>
          <p:txBody>
            <a:bodyPr lIns="0" tIns="0" rIns="0" bIns="0" rtlCol="0" anchor="t">
              <a:spAutoFit/>
            </a:bodyPr>
            <a:lstStyle/>
            <a:p>
              <a:pPr algn="ctr">
                <a:lnSpc>
                  <a:spcPts val="17779"/>
                </a:lnSpc>
                <a:spcBef>
                  <a:spcPct val="0"/>
                </a:spcBef>
              </a:pPr>
              <a:r>
                <a:rPr lang="en-US" sz="12699">
                  <a:solidFill>
                    <a:srgbClr val="A68E45"/>
                  </a:solidFill>
                  <a:latin typeface="The Seasons"/>
                  <a:ea typeface="The Seasons"/>
                  <a:cs typeface="The Seasons"/>
                  <a:sym typeface="The Seasons"/>
                </a:rPr>
                <a:t>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434</TotalTime>
  <Words>544</Words>
  <Application>Microsoft Office PowerPoint</Application>
  <PresentationFormat>Custom</PresentationFormat>
  <Paragraphs>91</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The Seasons Italics</vt:lpstr>
      <vt:lpstr>Arial</vt:lpstr>
      <vt:lpstr>Wingdings</vt:lpstr>
      <vt:lpstr>Algerian</vt:lpstr>
      <vt:lpstr>Arimo</vt:lpstr>
      <vt:lpstr>The Seasons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CodeRush1.0 - PPT Template.pptx</dc:title>
  <dc:creator>HP</dc:creator>
  <cp:lastModifiedBy>Yash Dudhane</cp:lastModifiedBy>
  <cp:revision>4</cp:revision>
  <dcterms:created xsi:type="dcterms:W3CDTF">2006-08-16T00:00:00Z</dcterms:created>
  <dcterms:modified xsi:type="dcterms:W3CDTF">2026-02-27T04:03:33Z</dcterms:modified>
  <dc:identifier>DAG20Box5XY</dc:identifier>
</cp:coreProperties>
</file>